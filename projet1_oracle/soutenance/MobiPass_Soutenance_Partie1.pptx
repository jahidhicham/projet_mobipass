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f85abf5-34f7-ce99-0db8-90443bed9013}">
          <p14:sldIdLst>
            <p14:sldId id="256"/>
            <p14:sldId id="257"/>
            <p14:sldId id="258"/>
          </p14:sldIdLst>
        </p14:section>
        <p14:section name="01 · Contexte et besoins" id="{d58038bc-d3fc-3626-5059-b7a1b7a3c85a}">
          <p14:sldIdLst>
            <p14:sldId id="259"/>
            <p14:sldId id="260"/>
            <p14:sldId id="261"/>
          </p14:sldIdLst>
        </p14:section>
        <p14:section name="02 · Entrepôt de données V2" id="{cdd60fc2-bbf9-d4c5-642d-ade13c77293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3 · Magasins de données" id="{368158d7-db68-59b7-baef-1405d3b1d894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04 · Restitution Power BI" id="{f94360b7-eed7-22aa-47de-6beb6ffc06f7}">
          <p14:sldIdLst>
            <p14:sldId id="279"/>
            <p14:sldId id="280"/>
            <p14:sldId id="281"/>
          </p14:sldIdLst>
        </p14:section>
        <p14:section name="Conclusion" id="{a5a58d5b-7a3b-7990-c332-a52b2a8321bc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Nous sommes NABHIS Consulting. Nous présentons la solution décisionnelle conçue pour MobiPass.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l'équipe en 30 secondes: qui nous sommes, notre mission, notre démarche.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temps : le contexte et les besoins du décideur, l’entrepôt de données V2, les deux magasins de données, puis la restitution dans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l'ED actuel: il couvre le catalogue, les achats, les réservations et les locations en France. Mais les prix sont dans le produit, il n'y a pas d'historique RH ni de zones géographiques détaillées.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Besoins explicites B1 à B4 et contraintes. Ces réponses clients du 13 et 14 octobre ont cadré le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 conducteur: sources → zone de préparation → entrepôt ED V2 → deux magasins → Power BI. Pas d'ODS: la zone de préparation est vidée après chargement.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L'ED V2 reprend le V1 et y ajoute 17 tables, et en modifie 4: DOMAINE, SOCIETE, PRODUIT, EXEMPLAIRE.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décideur veut des montants publics, ceux que paie le consommateur, donc TTC.
Rappel : parler de Louer.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rapprochement entre RH et ERP donne les statuts VALIDE, A_VERIFIER, AMBIGU, NON_RAPPROCHE.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référentiel ROME de France Travail a 4 niveaux. EXERCER relie un employé à une appellation avec date de début et de fin, donc l'historique.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Fabricants, générations et agences ouvrent les analyses de produits.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Alltricks est dans le périmètre d'après les réponses du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Référentiels officiels INSEE.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ZONE_GEO est générique et réflexive: robuste, extensible. L'extension à d'autres pays est une initiative de l'équipe, pas une demande du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extraire dans la zone de préparation, nettoyer et contrôler, charger l'ED. Exemple allemand: code AGS décomposé. Homonymes (Neustadt): contrôle qualité. Rapprochement RH avec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MD1 est en étoile: un fait Location avec trois mesures et trois dimensions. Les dimensions sont détaillées sur les slides suivantes.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Problème 1 : une location a un début et une durée, elle s’étale sur plusieurs semaines et plusieurs mois. Solution : on la décompose jour par jour. Exemple : l’employé 286 loue l’exemplaire 79 pendant 14 jours ; dans LOCATION_MD1, cela donne 14 lignes d’un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Problème 1: une location a un début et une durée, elle s'étale sur plusieurs semaines et mois. Solution: décomposition jour par jour. Problème 2: une semaine peut chevaucher deux mois, donc deux hiérarchies. Montrer H_SEM et H_MOIS sur l'image.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L'employé donne accès à son service, sa société et à la géographie. France: ville, département, région. Allemagne: Gemeinde, Kreis, district, Land. Hiérarchies séparées car les découpages diffèrent; types Stadtstaat / Flächenland.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Agg1 et Agg2 sont calculés depuis le fait Location_MD1, Agg3 est calculé depuis Agg2. A1: montants payés par mois et société. A2: montants payés et durées par semaine et salarié. A3: durées par mois et région.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MD2: fait Achat avec quantité, montant payé TTC et bénéfice HT, et quatre dimensions: Produit, Temps, Métier, Employé. Sécurité par pays pour chaque responsable des ventes.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Produit: autonomie, marque, gamme et secteur, génération, statut, fabricant. Temps: une seule hiérarchie mois-année. Métier: ROME sur trois niveaux.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Employé: tranche d'âge, catégorie, service, société, type, catégorie juridique à 3 niveaux, domaine NAF, géographie France ou Allemagne.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personne parle, l’autre manipule Power BI. Scénario à répéter.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personne parle, l’autre manipule Power BI. Scénario à répéter.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: chaque besoin est couvert, la solution est extensible. Ouvrir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77240"/>
            <a:ext cx="5760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NABHIS Consulting · Projet MobiPass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NABHIS Consulting · Projet MobiPass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D5D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77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NABHIS CONSULTING  ·  SOUTENANCE  ·  PARTIE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Conception d’un système décisionnel pour piloter les activités de MobiPass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 de données, magasins de données et tableaux de bord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Akakpo Alexandre · El Cheriaa Nader · Jahid Hicham · Ndala Brusny · Carrère Sami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MIAGE IDA – Université Toulouse Capitole</a:t>
            </a:r>
            <a:endParaRPr lang="en-US" sz="1100" dirty="0"/>
          </a:p>
        </p:txBody>
      </p:sp>
      <p:sp>
        <p:nvSpPr>
          <p:cNvPr id="7" name="image panel"/>
          <p:cNvSpPr/>
          <p:nvPr/>
        </p:nvSpPr>
        <p:spPr>
          <a:xfrm>
            <a:off x="6583680" y="1097280"/>
            <a:ext cx="21031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</p:spPr>
      </p:sp>
      <p:pic>
        <p:nvPicPr>
          <p:cNvPr id="8" name="Logo NABHIS Consulting" descr="Logo NABHIS Consul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325" y="1261872"/>
            <a:ext cx="1745831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QUI SOMMES-NOUS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NABHIS Consulting : une équipe de cinq consultants BI</a:t>
            </a:r>
            <a:endParaRPr lang="en-US" sz="2600" dirty="0"/>
          </a:p>
        </p:txBody>
      </p:sp>
      <p:sp>
        <p:nvSpPr>
          <p:cNvPr id="5" name="mission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2984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nos clients dans la conception de leur système d’aide à la décision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95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SERVICES</a:t>
            </a:r>
            <a:endParaRPr lang="en-US" sz="1000" dirty="0"/>
          </a:p>
        </p:txBody>
      </p:sp>
      <p:sp>
        <p:nvSpPr>
          <p:cNvPr id="9" name="icon circle FaCogs"/>
          <p:cNvSpPr/>
          <p:nvPr/>
        </p:nvSpPr>
        <p:spPr>
          <a:xfrm>
            <a:off x="457200" y="2770632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icon FaCog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8712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27249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systèmes décisionnels sur mesure</a:t>
            </a:r>
            <a:endParaRPr lang="en-US" sz="1300" dirty="0"/>
          </a:p>
        </p:txBody>
      </p:sp>
      <p:sp>
        <p:nvSpPr>
          <p:cNvPr id="12" name="icon circle FaChartBar"/>
          <p:cNvSpPr/>
          <p:nvPr/>
        </p:nvSpPr>
        <p:spPr>
          <a:xfrm>
            <a:off x="457200" y="3392424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icon FaChartB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49300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334670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données dispersées d’une entreprise en indicateurs fiables</a:t>
            </a:r>
            <a:endParaRPr lang="en-US" sz="1300" dirty="0"/>
          </a:p>
        </p:txBody>
      </p:sp>
      <p:sp>
        <p:nvSpPr>
          <p:cNvPr id="15" name="icon circle FaCheckCircle"/>
          <p:cNvSpPr/>
          <p:nvPr/>
        </p:nvSpPr>
        <p:spPr>
          <a:xfrm>
            <a:off x="457200" y="4014216"/>
            <a:ext cx="402336" cy="402336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icon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1148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396849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 POC réaliste, validé avec le client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800600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endParaRPr lang="en-US" sz="1000" dirty="0"/>
          </a:p>
        </p:txBody>
      </p:sp>
      <p:sp>
        <p:nvSpPr>
          <p:cNvPr id="19" name="member Akakpo Alexandre"/>
          <p:cNvSpPr/>
          <p:nvPr/>
        </p:nvSpPr>
        <p:spPr>
          <a:xfrm>
            <a:off x="4800600" y="1481328"/>
            <a:ext cx="3886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number AA"/>
          <p:cNvSpPr/>
          <p:nvPr/>
        </p:nvSpPr>
        <p:spPr>
          <a:xfrm>
            <a:off x="4937760" y="15636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AA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0" y="1481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Akakpo Alexandre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/ BI Developer</a:t>
            </a:r>
            <a:endParaRPr lang="en-US" sz="1200" dirty="0"/>
          </a:p>
        </p:txBody>
      </p:sp>
      <p:sp>
        <p:nvSpPr>
          <p:cNvPr id="22" name="member El Cheriaa Nader"/>
          <p:cNvSpPr/>
          <p:nvPr/>
        </p:nvSpPr>
        <p:spPr>
          <a:xfrm>
            <a:off x="4800600" y="2103120"/>
            <a:ext cx="3886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3" name="number EC"/>
          <p:cNvSpPr/>
          <p:nvPr/>
        </p:nvSpPr>
        <p:spPr>
          <a:xfrm>
            <a:off x="4937760" y="2185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EC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Cheriaa Nader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/ Data Analyst</a:t>
            </a:r>
            <a:endParaRPr lang="en-US" sz="1200" dirty="0"/>
          </a:p>
        </p:txBody>
      </p:sp>
      <p:sp>
        <p:nvSpPr>
          <p:cNvPr id="25" name="member Jahid Hicham"/>
          <p:cNvSpPr/>
          <p:nvPr/>
        </p:nvSpPr>
        <p:spPr>
          <a:xfrm>
            <a:off x="4800600" y="2724912"/>
            <a:ext cx="3886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6" name="number JH"/>
          <p:cNvSpPr/>
          <p:nvPr/>
        </p:nvSpPr>
        <p:spPr>
          <a:xfrm>
            <a:off x="4937760" y="28072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JH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0" y="2724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Jahid Hicham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Modeler / Data Architect</a:t>
            </a:r>
            <a:endParaRPr lang="en-US" sz="1200" dirty="0"/>
          </a:p>
        </p:txBody>
      </p:sp>
      <p:sp>
        <p:nvSpPr>
          <p:cNvPr id="28" name="member Ndala Brusny"/>
          <p:cNvSpPr/>
          <p:nvPr/>
        </p:nvSpPr>
        <p:spPr>
          <a:xfrm>
            <a:off x="4800600" y="3346704"/>
            <a:ext cx="3886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9" name="number NB"/>
          <p:cNvSpPr/>
          <p:nvPr/>
        </p:nvSpPr>
        <p:spPr>
          <a:xfrm>
            <a:off x="4937760" y="3429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NB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0" y="33467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Ndala Brusny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</a:t>
            </a:r>
            <a:endParaRPr lang="en-US" sz="1200" dirty="0"/>
          </a:p>
        </p:txBody>
      </p:sp>
      <p:sp>
        <p:nvSpPr>
          <p:cNvPr id="31" name="member Carrère Sami"/>
          <p:cNvSpPr/>
          <p:nvPr/>
        </p:nvSpPr>
        <p:spPr>
          <a:xfrm>
            <a:off x="4800600" y="3968496"/>
            <a:ext cx="3886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2" name="number CS"/>
          <p:cNvSpPr/>
          <p:nvPr/>
        </p:nvSpPr>
        <p:spPr>
          <a:xfrm>
            <a:off x="4937760" y="40507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CS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0" y="39684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Carrère Sami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/ Business Analyst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SOMMAIRE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Notre démarche en quatre étapes</a:t>
            </a:r>
            <a:endParaRPr lang="en-US" sz="2600" dirty="0"/>
          </a:p>
        </p:txBody>
      </p:sp>
      <p:sp>
        <p:nvSpPr>
          <p:cNvPr id="5" name="step 01"/>
          <p:cNvSpPr/>
          <p:nvPr/>
        </p:nvSpPr>
        <p:spPr>
          <a:xfrm>
            <a:off x="457200" y="1371600"/>
            <a:ext cx="1865376" cy="283464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icon circle FaSearch"/>
          <p:cNvSpPr/>
          <p:nvPr/>
        </p:nvSpPr>
        <p:spPr>
          <a:xfrm>
            <a:off x="1664208" y="1618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Sear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17327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besoins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294436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L’entrepôt actuel, ses limites et les nouveaux besoins du décideur</a:t>
            </a:r>
            <a:endParaRPr lang="en-US" sz="1300" dirty="0"/>
          </a:p>
        </p:txBody>
      </p:sp>
      <p:sp>
        <p:nvSpPr>
          <p:cNvPr id="11" name="chevron"/>
          <p:cNvSpPr/>
          <p:nvPr/>
        </p:nvSpPr>
        <p:spPr>
          <a:xfrm>
            <a:off x="2386584" y="2670048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2" name="step 02"/>
          <p:cNvSpPr/>
          <p:nvPr/>
        </p:nvSpPr>
        <p:spPr>
          <a:xfrm>
            <a:off x="2578608" y="1371600"/>
            <a:ext cx="1865376" cy="283464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779776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icon circle FaDatabase"/>
          <p:cNvSpPr/>
          <p:nvPr/>
        </p:nvSpPr>
        <p:spPr>
          <a:xfrm>
            <a:off x="3785616" y="1618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FaDatab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173278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779776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 de données V2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779776" y="294436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tables pour couvrir les besoins, alimentées par une intégration fiable</a:t>
            </a:r>
            <a:endParaRPr lang="en-US" sz="1300" dirty="0"/>
          </a:p>
        </p:txBody>
      </p:sp>
      <p:sp>
        <p:nvSpPr>
          <p:cNvPr id="18" name="chevron"/>
          <p:cNvSpPr/>
          <p:nvPr/>
        </p:nvSpPr>
        <p:spPr>
          <a:xfrm>
            <a:off x="4507992" y="2670048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9" name="step 03"/>
          <p:cNvSpPr/>
          <p:nvPr/>
        </p:nvSpPr>
        <p:spPr>
          <a:xfrm>
            <a:off x="4700016" y="1371600"/>
            <a:ext cx="1865376" cy="283464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901184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icon circle FaCube"/>
          <p:cNvSpPr/>
          <p:nvPr/>
        </p:nvSpPr>
        <p:spPr>
          <a:xfrm>
            <a:off x="5907024" y="1618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 FaCu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4" y="173278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901184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Magasins de données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901184" y="294436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MD1 pour les locations, MD2 pour les ventes, des agrégats pour la rapidité</a:t>
            </a:r>
            <a:endParaRPr lang="en-US" sz="1300" dirty="0"/>
          </a:p>
        </p:txBody>
      </p:sp>
      <p:sp>
        <p:nvSpPr>
          <p:cNvPr id="25" name="chevron"/>
          <p:cNvSpPr/>
          <p:nvPr/>
        </p:nvSpPr>
        <p:spPr>
          <a:xfrm>
            <a:off x="6629400" y="2670048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6" name="step 04"/>
          <p:cNvSpPr/>
          <p:nvPr/>
        </p:nvSpPr>
        <p:spPr>
          <a:xfrm>
            <a:off x="6821424" y="1371600"/>
            <a:ext cx="1865376" cy="283464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022592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icon circle FaChartBar"/>
          <p:cNvSpPr/>
          <p:nvPr/>
        </p:nvSpPr>
        <p:spPr>
          <a:xfrm>
            <a:off x="8028432" y="1618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 FaChart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173278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22592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Power BI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022592" y="294436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 et tableaux de bord prêts à l’emploi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01 · CONTEXTE ET BESOINS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 contexte : l’entrepôt de données actuel de MobiPass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502920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Modèle conceptuel de l’entrepôt de données actuel" descr="Modèle conceptuel de l’entrepôt de données actu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412" y="1298448"/>
            <a:ext cx="4454777" cy="3209544"/>
          </a:xfrm>
          <a:prstGeom prst="rect">
            <a:avLst/>
          </a:prstGeom>
        </p:spPr>
      </p:pic>
      <p:sp>
        <p:nvSpPr>
          <p:cNvPr id="7" name="ce qu il permet"/>
          <p:cNvSpPr/>
          <p:nvPr/>
        </p:nvSpPr>
        <p:spPr>
          <a:xfrm>
            <a:off x="5715000" y="1188720"/>
            <a:ext cx="29718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icon circle FaCheck"/>
          <p:cNvSpPr/>
          <p:nvPr/>
        </p:nvSpPr>
        <p:spPr>
          <a:xfrm>
            <a:off x="5897880" y="13258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 Fa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04" y="1403604"/>
            <a:ext cx="155448" cy="1554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1325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qu’il permet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897880" y="1737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achats, réservations et locations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périmètre : la France</a:t>
            </a:r>
            <a:endParaRPr lang="en-US" sz="1200" dirty="0"/>
          </a:p>
        </p:txBody>
      </p:sp>
      <p:sp>
        <p:nvSpPr>
          <p:cNvPr id="12" name="ce qui manque"/>
          <p:cNvSpPr/>
          <p:nvPr/>
        </p:nvSpPr>
        <p:spPr>
          <a:xfrm>
            <a:off x="5715000" y="2514600"/>
            <a:ext cx="2971800" cy="210312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/>
        </p:spPr>
      </p:sp>
      <p:sp>
        <p:nvSpPr>
          <p:cNvPr id="13" name="icon circle FaTimes"/>
          <p:cNvSpPr/>
          <p:nvPr/>
        </p:nvSpPr>
        <p:spPr>
          <a:xfrm>
            <a:off x="5897880" y="265176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 FaTim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04" y="272948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09360" y="2651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897880" y="3063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stockés dans le produit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d’historique RH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zones géographiques détaillées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second pays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01 · CONTEXTE ET BESOINS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Les nouveaux besoins du décideur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DÉCIDEUR VEUT</a:t>
            </a:r>
            <a:endParaRPr lang="en-US" sz="1000" dirty="0"/>
          </a:p>
        </p:txBody>
      </p:sp>
      <p:sp>
        <p:nvSpPr>
          <p:cNvPr id="6" name="besoin B1"/>
          <p:cNvSpPr/>
          <p:nvPr/>
        </p:nvSpPr>
        <p:spPr>
          <a:xfrm>
            <a:off x="457200" y="1481328"/>
            <a:ext cx="3977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pill B1"/>
          <p:cNvSpPr/>
          <p:nvPr/>
        </p:nvSpPr>
        <p:spPr>
          <a:xfrm>
            <a:off x="603504" y="1801368"/>
            <a:ext cx="4754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481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montants payés et les durées : par mois et société, par semaine et salarié, par mois et région</a:t>
            </a:r>
            <a:endParaRPr lang="en-US" sz="1250" dirty="0"/>
          </a:p>
        </p:txBody>
      </p:sp>
      <p:sp>
        <p:nvSpPr>
          <p:cNvPr id="9" name="besoin B2"/>
          <p:cNvSpPr/>
          <p:nvPr/>
        </p:nvSpPr>
        <p:spPr>
          <a:xfrm>
            <a:off x="457200" y="2487168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pill B2"/>
          <p:cNvSpPr/>
          <p:nvPr/>
        </p:nvSpPr>
        <p:spPr>
          <a:xfrm>
            <a:off x="603504" y="2624328"/>
            <a:ext cx="4754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librement les locations (OLAP)</a:t>
            </a:r>
            <a:endParaRPr lang="en-US" sz="1250" dirty="0"/>
          </a:p>
        </p:txBody>
      </p:sp>
      <p:sp>
        <p:nvSpPr>
          <p:cNvPr id="12" name="besoin B3"/>
          <p:cNvSpPr/>
          <p:nvPr/>
        </p:nvSpPr>
        <p:spPr>
          <a:xfrm>
            <a:off x="457200" y="3127248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" name="pill B3"/>
          <p:cNvSpPr/>
          <p:nvPr/>
        </p:nvSpPr>
        <p:spPr>
          <a:xfrm>
            <a:off x="603504" y="3264408"/>
            <a:ext cx="4754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127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ventes</a:t>
            </a:r>
            <a:endParaRPr lang="en-US" sz="1250" dirty="0"/>
          </a:p>
        </p:txBody>
      </p:sp>
      <p:sp>
        <p:nvSpPr>
          <p:cNvPr id="15" name="besoin B4"/>
          <p:cNvSpPr/>
          <p:nvPr/>
        </p:nvSpPr>
        <p:spPr>
          <a:xfrm>
            <a:off x="457200" y="3767328"/>
            <a:ext cx="3977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pill B4"/>
          <p:cNvSpPr/>
          <p:nvPr/>
        </p:nvSpPr>
        <p:spPr>
          <a:xfrm>
            <a:off x="603504" y="3959352"/>
            <a:ext cx="4754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7673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prêts à l’emploi, y compris les achats Alltricks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1188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REND LE PROJET EXIGEANT</a:t>
            </a:r>
            <a:endParaRPr lang="en-US" sz="1000" dirty="0"/>
          </a:p>
        </p:txBody>
      </p:sp>
      <p:sp>
        <p:nvSpPr>
          <p:cNvPr id="19" name="contrainte Deux pays"/>
          <p:cNvSpPr/>
          <p:nvPr/>
        </p:nvSpPr>
        <p:spPr>
          <a:xfrm>
            <a:off x="4709160" y="1481328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icon circle FaGlobeEurope"/>
          <p:cNvSpPr/>
          <p:nvPr/>
        </p:nvSpPr>
        <p:spPr>
          <a:xfrm>
            <a:off x="4837176" y="160020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 FaGlobeEuro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682496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7800" y="16002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pays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4837176" y="19842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et Allemagne, géographies différentes</a:t>
            </a:r>
            <a:endParaRPr lang="en-US" sz="1050" dirty="0"/>
          </a:p>
        </p:txBody>
      </p:sp>
      <p:sp>
        <p:nvSpPr>
          <p:cNvPr id="24" name="contrainte Rapidité"/>
          <p:cNvSpPr/>
          <p:nvPr/>
        </p:nvSpPr>
        <p:spPr>
          <a:xfrm>
            <a:off x="6748272" y="1481328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icon circle FaBolt"/>
          <p:cNvSpPr/>
          <p:nvPr/>
        </p:nvSpPr>
        <p:spPr>
          <a:xfrm>
            <a:off x="6876288" y="160020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 FaBol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1682496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296912" y="16002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6876288" y="19842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rapides, sans requête à écrire</a:t>
            </a:r>
            <a:endParaRPr lang="en-US" sz="1050" dirty="0"/>
          </a:p>
        </p:txBody>
      </p:sp>
      <p:sp>
        <p:nvSpPr>
          <p:cNvPr id="29" name="contrainte Sécurité"/>
          <p:cNvSpPr/>
          <p:nvPr/>
        </p:nvSpPr>
        <p:spPr>
          <a:xfrm>
            <a:off x="4709160" y="2505456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icon circle FaLock"/>
          <p:cNvSpPr/>
          <p:nvPr/>
        </p:nvSpPr>
        <p:spPr>
          <a:xfrm>
            <a:off x="4837176" y="2624328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706624"/>
            <a:ext cx="164592" cy="16459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257800" y="26243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4837176" y="300837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responsable voit son pays</a:t>
            </a:r>
            <a:endParaRPr lang="en-US" sz="1050" dirty="0"/>
          </a:p>
        </p:txBody>
      </p:sp>
      <p:sp>
        <p:nvSpPr>
          <p:cNvPr id="34" name="contrainte Tarifs"/>
          <p:cNvSpPr/>
          <p:nvPr/>
        </p:nvSpPr>
        <p:spPr>
          <a:xfrm>
            <a:off x="6748272" y="2505456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icon circle FaTags"/>
          <p:cNvSpPr/>
          <p:nvPr/>
        </p:nvSpPr>
        <p:spPr>
          <a:xfrm>
            <a:off x="6876288" y="2624328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icon FaTag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2706624"/>
            <a:ext cx="164592" cy="16459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296912" y="26243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6876288" y="300837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pays et par période, HT et TTC</a:t>
            </a:r>
            <a:endParaRPr lang="en-US" sz="1050" dirty="0"/>
          </a:p>
        </p:txBody>
      </p:sp>
      <p:sp>
        <p:nvSpPr>
          <p:cNvPr id="39" name="contrainte Historique RH"/>
          <p:cNvSpPr/>
          <p:nvPr/>
        </p:nvSpPr>
        <p:spPr>
          <a:xfrm>
            <a:off x="4709160" y="3529584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icon circle FaUserClock"/>
          <p:cNvSpPr/>
          <p:nvPr/>
        </p:nvSpPr>
        <p:spPr>
          <a:xfrm>
            <a:off x="4837176" y="364845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con FaUserClo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730752"/>
            <a:ext cx="164592" cy="16459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257800" y="364845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RH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4837176" y="403250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mensuelles, métier et service historisés</a:t>
            </a:r>
            <a:endParaRPr lang="en-US" sz="1050" dirty="0"/>
          </a:p>
        </p:txBody>
      </p:sp>
      <p:sp>
        <p:nvSpPr>
          <p:cNvPr id="44" name="contrainte Semaine / mois"/>
          <p:cNvSpPr/>
          <p:nvPr/>
        </p:nvSpPr>
        <p:spPr>
          <a:xfrm>
            <a:off x="6748272" y="3529584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icon circle FaCalendarAlt"/>
          <p:cNvSpPr/>
          <p:nvPr/>
        </p:nvSpPr>
        <p:spPr>
          <a:xfrm>
            <a:off x="6876288" y="364845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6" name="icon FaCalendar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3730752"/>
            <a:ext cx="164592" cy="16459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296912" y="364845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/ mois</a:t>
            </a:r>
            <a:endParaRPr lang="en-US" sz="1250" dirty="0"/>
          </a:p>
        </p:txBody>
      </p:sp>
      <p:sp>
        <p:nvSpPr>
          <p:cNvPr id="48" name="Text 39"/>
          <p:cNvSpPr txBox="1"/>
          <p:nvPr/>
        </p:nvSpPr>
        <p:spPr>
          <a:xfrm>
            <a:off x="6876288" y="403250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hiérarchies de temps distinctes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01 · CONTEXTE ET BESOINS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Proposition d’une architecture SAD de MobiPass</a:t>
            </a:r>
            <a:endParaRPr lang="en-US" sz="2600" dirty="0"/>
          </a:p>
        </p:txBody>
      </p:sp>
      <p:pic>
        <p:nvPicPr>
          <p:cNvPr id="5" name="architecture" descr="Architecture : sources, intégration et stockage Oracle, magasins et restitution Power 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248" y="1143000"/>
            <a:ext cx="6895505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 nouvel entrepôt de données : 29 tables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6035040" cy="3154680"/>
          </a:xfrm>
          <a:prstGeom prst="roundRect">
            <a:avLst>
              <a:gd name="adj" fmla="val 2319"/>
            </a:avLst>
          </a:prstGeom>
          <a:solidFill>
            <a:srgbClr val="F0F0F0"/>
          </a:solidFill>
          <a:ln/>
        </p:spPr>
      </p:sp>
      <p:pic>
        <p:nvPicPr>
          <p:cNvPr id="6" name="Modèle conceptuel de l’entrepôt de données V2" descr="Modèle conceptuel de l’entrepôt de données V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08" y="1298448"/>
            <a:ext cx="5401023" cy="29352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4074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Modifiées : DOMAINE, SOCIETE, PRODUIT, EXEMPLAIRE. Les prix quittent PRODUIT pour la table TARIF.</a:t>
            </a:r>
            <a:endParaRPr lang="en-US" sz="1100" dirty="0"/>
          </a:p>
        </p:txBody>
      </p:sp>
      <p:sp>
        <p:nvSpPr>
          <p:cNvPr id="8" name="stat 8"/>
          <p:cNvSpPr/>
          <p:nvPr/>
        </p:nvSpPr>
        <p:spPr>
          <a:xfrm>
            <a:off x="6675120" y="1188720"/>
            <a:ext cx="201168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legend swatch"/>
          <p:cNvSpPr/>
          <p:nvPr/>
        </p:nvSpPr>
        <p:spPr>
          <a:xfrm>
            <a:off x="6858000" y="13898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A6CAEF"/>
          </a:solidFill>
          <a:ln w="6350">
            <a:solidFill>
              <a:srgbClr val="8A97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23760" y="124358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conservées de la V1</a:t>
            </a:r>
            <a:endParaRPr lang="en-US" sz="1150" dirty="0"/>
          </a:p>
        </p:txBody>
      </p:sp>
      <p:sp>
        <p:nvSpPr>
          <p:cNvPr id="12" name="stat 4"/>
          <p:cNvSpPr/>
          <p:nvPr/>
        </p:nvSpPr>
        <p:spPr>
          <a:xfrm>
            <a:off x="6675120" y="2286000"/>
            <a:ext cx="201168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3" name="legend swatch"/>
          <p:cNvSpPr/>
          <p:nvPr/>
        </p:nvSpPr>
        <p:spPr>
          <a:xfrm>
            <a:off x="6858000" y="24871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00"/>
          </a:solidFill>
          <a:ln w="6350">
            <a:solidFill>
              <a:srgbClr val="8A97A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223760" y="234086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modifiées par rapport à la V1</a:t>
            </a:r>
            <a:endParaRPr lang="en-US" sz="1150" dirty="0"/>
          </a:p>
        </p:txBody>
      </p:sp>
      <p:sp>
        <p:nvSpPr>
          <p:cNvPr id="16" name="stat 17"/>
          <p:cNvSpPr/>
          <p:nvPr/>
        </p:nvSpPr>
        <p:spPr>
          <a:xfrm>
            <a:off x="6675120" y="3383280"/>
            <a:ext cx="201168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7" name="legend swatch"/>
          <p:cNvSpPr/>
          <p:nvPr/>
        </p:nvSpPr>
        <p:spPr>
          <a:xfrm>
            <a:off x="6858000" y="35844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2FF00"/>
          </a:solidFill>
          <a:ln w="6350">
            <a:solidFill>
              <a:srgbClr val="8A97A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223760" y="343814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tables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des tarifs par pays et par période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tarifs propres à chaque pays, valables sur une période, en HT ou en TTC.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5440680" cy="2715768"/>
          </a:xfrm>
          <a:prstGeom prst="roundRect">
            <a:avLst>
              <a:gd name="adj" fmla="val 2694"/>
            </a:avLst>
          </a:prstGeom>
          <a:solidFill>
            <a:srgbClr val="F0F0F0"/>
          </a:solidFill>
          <a:ln/>
        </p:spPr>
      </p:sp>
      <p:pic>
        <p:nvPicPr>
          <p:cNvPr id="9" name="Extrait du MCD : table TARIF" descr="Extrait du MCD : table TAR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67029"/>
            <a:ext cx="5221224" cy="2294174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6080760" y="1856232"/>
            <a:ext cx="2606040" cy="2715768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81928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81928" y="233172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relie PAYS, PRODUIT et JOUR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sort de PRODUIT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ModePrix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indique HT ou TTC, pour appliquer correctement les réductions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un historique RH mensuel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salariés mois par mois, avec leur service et leur historique d’affectation.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8229600" cy="1627632"/>
          </a:xfrm>
          <a:prstGeom prst="roundRect">
            <a:avLst>
              <a:gd name="adj" fmla="val 4494"/>
            </a:avLst>
          </a:prstGeom>
          <a:solidFill>
            <a:srgbClr val="F0F0F0"/>
          </a:solidFill>
          <a:ln/>
        </p:spPr>
      </p:sp>
      <p:pic>
        <p:nvPicPr>
          <p:cNvPr id="9" name="Extrait du MCD : SALARIE_RH, EMPLOYE, ETRE_AFFECTE" descr="Extrait du MCD : SALARIE_RH, EMPLOYE, ETRE_AFFEC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869" y="1965960"/>
            <a:ext cx="5182263" cy="1408176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457200" y="3639312"/>
            <a:ext cx="8229600" cy="978408"/>
          </a:xfrm>
          <a:prstGeom prst="roundRect">
            <a:avLst>
              <a:gd name="adj" fmla="val 7477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8368" y="3767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4050792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SALARIE_RH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fichier RH, rapproché d’EMPLOYE par la table Correspondre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43656" y="4050792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ETRE_AFFECTE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l’historique des services d’un employé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028944" y="4050792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rapprochement se fait avec un score, pas à l’aveugle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connaître le métier des salariés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métiers des salariés, et leur évolution dans le temps.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01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NIVEAUX DU RÉFÉRENTIEL ROME</a:t>
            </a:r>
            <a:endParaRPr lang="en-US" sz="1000" dirty="0"/>
          </a:p>
        </p:txBody>
      </p:sp>
      <p:sp>
        <p:nvSpPr>
          <p:cNvPr id="9" name="rome GRAND_DOMAINE"/>
          <p:cNvSpPr/>
          <p:nvPr/>
        </p:nvSpPr>
        <p:spPr>
          <a:xfrm>
            <a:off x="457200" y="2212848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21284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GRAND_DOMAINE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</a:t>
            </a:r>
            <a:endParaRPr lang="en-US" sz="1200" dirty="0"/>
          </a:p>
        </p:txBody>
      </p:sp>
      <p:sp>
        <p:nvSpPr>
          <p:cNvPr id="11" name="chevron"/>
          <p:cNvSpPr/>
          <p:nvPr/>
        </p:nvSpPr>
        <p:spPr>
          <a:xfrm>
            <a:off x="2359152" y="2468880"/>
            <a:ext cx="128016" cy="23774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2" name="rome DOMAINE_PRO"/>
          <p:cNvSpPr/>
          <p:nvPr/>
        </p:nvSpPr>
        <p:spPr>
          <a:xfrm>
            <a:off x="2606040" y="2212848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221284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DOMAINE_PRO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1200" dirty="0"/>
          </a:p>
        </p:txBody>
      </p:sp>
      <p:sp>
        <p:nvSpPr>
          <p:cNvPr id="14" name="chevron"/>
          <p:cNvSpPr/>
          <p:nvPr/>
        </p:nvSpPr>
        <p:spPr>
          <a:xfrm>
            <a:off x="4507992" y="2468880"/>
            <a:ext cx="128016" cy="23774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5" name="rome FICHE_METIER"/>
          <p:cNvSpPr/>
          <p:nvPr/>
        </p:nvSpPr>
        <p:spPr>
          <a:xfrm>
            <a:off x="4754880" y="2212848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221284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FICHE_METIER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1200" dirty="0"/>
          </a:p>
        </p:txBody>
      </p:sp>
      <p:sp>
        <p:nvSpPr>
          <p:cNvPr id="17" name="chevron"/>
          <p:cNvSpPr/>
          <p:nvPr/>
        </p:nvSpPr>
        <p:spPr>
          <a:xfrm>
            <a:off x="6656832" y="2468880"/>
            <a:ext cx="128016" cy="23774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8" name="rome APPELLATION"/>
          <p:cNvSpPr/>
          <p:nvPr/>
        </p:nvSpPr>
        <p:spPr>
          <a:xfrm>
            <a:off x="6903720" y="2212848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221284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</a:t>
            </a:r>
            <a:endParaRPr lang="en-US" sz="1200" dirty="0"/>
          </a:p>
        </p:txBody>
      </p:sp>
      <p:sp>
        <p:nvSpPr>
          <p:cNvPr id="20" name="notre ajout"/>
          <p:cNvSpPr/>
          <p:nvPr/>
        </p:nvSpPr>
        <p:spPr>
          <a:xfrm>
            <a:off x="457200" y="324612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8368" y="3374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3657600"/>
            <a:ext cx="2456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tables du référentiel ROME, chargées depuis France Travail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343656" y="3657600"/>
            <a:ext cx="2456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EXERCER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employé exerce une appellation, avec date de début, date de fin et type de contrat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28944" y="3657600"/>
            <a:ext cx="2456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d’un salarié est donc historisé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mieux décrire les produits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produits par fabricant et par génération, et savoir où sont les exemplaires.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0F0F0"/>
          </a:solidFill>
          <a:ln/>
        </p:spPr>
      </p:sp>
      <p:pic>
        <p:nvPicPr>
          <p:cNvPr id="9" name="Extrait du MCD : FABRICANT, GENERATION, PRODUIT, AGENCE" descr="Extrait du MCD : FABRICANT, GENERATION, PRODUIT, A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8788"/>
            <a:ext cx="8010144" cy="995049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8368" y="3419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3703320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qui fabrique chaque produit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672334" y="3703320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produit appartient à une génération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86300" y="3703320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où sont stockés les exemplaires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700266" y="3703320"/>
            <a:ext cx="178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prix y sont désormais stockés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les achats auprès d’Alltricks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achats auprès du partenaire Alltricks aux analyses de ventes.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5440680" cy="2715768"/>
          </a:xfrm>
          <a:prstGeom prst="roundRect">
            <a:avLst>
              <a:gd name="adj" fmla="val 2694"/>
            </a:avLst>
          </a:prstGeom>
          <a:solidFill>
            <a:srgbClr val="F0F0F0"/>
          </a:solidFill>
          <a:ln/>
        </p:spPr>
      </p:sp>
      <p:pic>
        <p:nvPicPr>
          <p:cNvPr id="9" name="Extrait du MCD : PARTENAIRE et ACHAT_PARTENAIRE" descr="Extrait du MCD : PARTENAIRE et ACHAT_PARTEN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975" y="1965960"/>
            <a:ext cx="2313129" cy="2496312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6080760" y="1856232"/>
            <a:ext cx="2606040" cy="2715768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81928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81928" y="233172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fournisseur, avec son taux de remise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ACHAT_PARTENAIRE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montant d’achat, à une date, par un employé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analyser les sociétés clientes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clients par forme juridique, type de société et secteur d’activité.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5440680" cy="2715768"/>
          </a:xfrm>
          <a:prstGeom prst="roundRect">
            <a:avLst>
              <a:gd name="adj" fmla="val 2694"/>
            </a:avLst>
          </a:prstGeom>
          <a:solidFill>
            <a:srgbClr val="F0F0F0"/>
          </a:solidFill>
          <a:ln/>
        </p:spPr>
      </p:sp>
      <p:pic>
        <p:nvPicPr>
          <p:cNvPr id="9" name="Extrait du MCD : SOCIETE, CATEGORIE_JURIDIQUE, TYPE_SOCIETE, DOMAINE" descr="Extrait du MCD : SOCIETE, CATEGORIE_JURIDIQUE, TYPE_SOCIETE, DOMA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53" y="1965960"/>
            <a:ext cx="4941773" cy="2496312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6080760" y="1856232"/>
            <a:ext cx="2606040" cy="2715768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81928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81928" y="233172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CATEGORIE_JURIDIQUE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hiérarchisée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TYPE_SOCIETE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type de société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activité NAF sur 4 niveaux (divisions → groupes → classes → sous-classes)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Besoin : deux pays, deux géographies</a:t>
            </a:r>
            <a:endParaRPr lang="en-US" sz="2600" dirty="0"/>
          </a:p>
        </p:txBody>
      </p:sp>
      <p:sp>
        <p:nvSpPr>
          <p:cNvPr id="5" name="besoin banner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3304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18872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France et l’Allemagne avec des découpages géographiques différents.</a:t>
            </a:r>
            <a:endParaRPr lang="en-US" sz="1300" dirty="0"/>
          </a:p>
        </p:txBody>
      </p:sp>
      <p:sp>
        <p:nvSpPr>
          <p:cNvPr id="8" name="image panel"/>
          <p:cNvSpPr/>
          <p:nvPr/>
        </p:nvSpPr>
        <p:spPr>
          <a:xfrm>
            <a:off x="457200" y="1856232"/>
            <a:ext cx="5440680" cy="2715768"/>
          </a:xfrm>
          <a:prstGeom prst="roundRect">
            <a:avLst>
              <a:gd name="adj" fmla="val 2694"/>
            </a:avLst>
          </a:prstGeom>
          <a:solidFill>
            <a:srgbClr val="F0F0F0"/>
          </a:solidFill>
          <a:ln/>
        </p:spPr>
      </p:sp>
      <p:pic>
        <p:nvPicPr>
          <p:cNvPr id="9" name="Extrait du MCD : PAYS et ZONE_GEO" descr="Extrait du MCD : PAYS et ZONE_G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585" y="1965960"/>
            <a:ext cx="1923909" cy="2496312"/>
          </a:xfrm>
          <a:prstGeom prst="rect">
            <a:avLst/>
          </a:prstGeom>
        </p:spPr>
      </p:pic>
      <p:sp>
        <p:nvSpPr>
          <p:cNvPr id="10" name="notre ajout"/>
          <p:cNvSpPr/>
          <p:nvPr/>
        </p:nvSpPr>
        <p:spPr>
          <a:xfrm>
            <a:off x="6080760" y="1856232"/>
            <a:ext cx="2606040" cy="2715768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81928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AJOUT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81928" y="233172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et ZONE_GEO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zone peut en englober d’autres (réflexive)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CodeZG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code officiel (INSEE, AGS)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pays = de nouvelles lignes, pas de nouvelle 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02 · ENTREPÔT DE DONNÉES V2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Intégrer les sources externes de façon fiable</a:t>
            </a:r>
            <a:endParaRPr lang="en-US" sz="2600" dirty="0"/>
          </a:p>
        </p:txBody>
      </p:sp>
      <p:sp>
        <p:nvSpPr>
          <p:cNvPr id="5" name="etape Extraire"/>
          <p:cNvSpPr/>
          <p:nvPr/>
        </p:nvSpPr>
        <p:spPr>
          <a:xfrm>
            <a:off x="457200" y="1188720"/>
            <a:ext cx="1865376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603504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42416" y="132588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7556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base MobiPass, RH FR et DE, INSEE, France Travail, Destatis, Alltricks</a:t>
            </a:r>
            <a:endParaRPr lang="en-US" sz="1050" dirty="0"/>
          </a:p>
        </p:txBody>
      </p:sp>
      <p:sp>
        <p:nvSpPr>
          <p:cNvPr id="9" name="chevron"/>
          <p:cNvSpPr/>
          <p:nvPr/>
        </p:nvSpPr>
        <p:spPr>
          <a:xfrm>
            <a:off x="2386584" y="1673352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0" name="etape Préparer"/>
          <p:cNvSpPr/>
          <p:nvPr/>
        </p:nvSpPr>
        <p:spPr>
          <a:xfrm>
            <a:off x="2578608" y="1188720"/>
            <a:ext cx="1865376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724912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163824" y="132588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724912" y="17556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dans la zone de préparation (sans ODS)</a:t>
            </a:r>
            <a:endParaRPr lang="en-US" sz="1050" dirty="0"/>
          </a:p>
        </p:txBody>
      </p:sp>
      <p:sp>
        <p:nvSpPr>
          <p:cNvPr id="14" name="chevron"/>
          <p:cNvSpPr/>
          <p:nvPr/>
        </p:nvSpPr>
        <p:spPr>
          <a:xfrm>
            <a:off x="4507992" y="1673352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5" name="etape Contrôler"/>
          <p:cNvSpPr/>
          <p:nvPr/>
        </p:nvSpPr>
        <p:spPr>
          <a:xfrm>
            <a:off x="4700016" y="1188720"/>
            <a:ext cx="1865376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6" name="number 3"/>
          <p:cNvSpPr/>
          <p:nvPr/>
        </p:nvSpPr>
        <p:spPr>
          <a:xfrm>
            <a:off x="484632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285232" y="132588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7556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qualité, rapprochement, homonymes</a:t>
            </a:r>
            <a:endParaRPr lang="en-US" sz="1050" dirty="0"/>
          </a:p>
        </p:txBody>
      </p:sp>
      <p:sp>
        <p:nvSpPr>
          <p:cNvPr id="19" name="chevron"/>
          <p:cNvSpPr/>
          <p:nvPr/>
        </p:nvSpPr>
        <p:spPr>
          <a:xfrm>
            <a:off x="6629400" y="1673352"/>
            <a:ext cx="128016" cy="23774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0" name="etape Charger"/>
          <p:cNvSpPr/>
          <p:nvPr/>
        </p:nvSpPr>
        <p:spPr>
          <a:xfrm>
            <a:off x="6821424" y="1188720"/>
            <a:ext cx="1865376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1" name="number 4"/>
          <p:cNvSpPr/>
          <p:nvPr/>
        </p:nvSpPr>
        <p:spPr>
          <a:xfrm>
            <a:off x="6967728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132588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67728" y="17556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de l’ED V2, France et Allemagne</a:t>
            </a:r>
            <a:endParaRPr lang="en-US" sz="1050" dirty="0"/>
          </a:p>
        </p:txBody>
      </p:sp>
      <p:sp>
        <p:nvSpPr>
          <p:cNvPr id="24" name="exemple AGS"/>
          <p:cNvSpPr/>
          <p:nvPr/>
        </p:nvSpPr>
        <p:spPr>
          <a:xfrm>
            <a:off x="457200" y="2560320"/>
            <a:ext cx="3886200" cy="2057400"/>
          </a:xfrm>
          <a:prstGeom prst="roundRect">
            <a:avLst>
              <a:gd name="adj" fmla="val 3556"/>
            </a:avLst>
          </a:prstGeom>
          <a:solidFill>
            <a:schemeClr val="accent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0080" y="2670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GÉOGRAPHIE ALLEMANDE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2926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AGS se décompose en quatre parties :</a:t>
            </a:r>
            <a:endParaRPr lang="en-US" sz="1150" dirty="0"/>
          </a:p>
        </p:txBody>
      </p:sp>
      <p:sp>
        <p:nvSpPr>
          <p:cNvPr id="27" name="AGS Land"/>
          <p:cNvSpPr/>
          <p:nvPr/>
        </p:nvSpPr>
        <p:spPr>
          <a:xfrm>
            <a:off x="640080" y="3218688"/>
            <a:ext cx="87782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Land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2 chiffres</a:t>
            </a:r>
            <a:endParaRPr lang="en-US" sz="1150" dirty="0"/>
          </a:p>
        </p:txBody>
      </p:sp>
      <p:sp>
        <p:nvSpPr>
          <p:cNvPr id="28" name="AGS District"/>
          <p:cNvSpPr/>
          <p:nvPr/>
        </p:nvSpPr>
        <p:spPr>
          <a:xfrm>
            <a:off x="1554480" y="3218688"/>
            <a:ext cx="78638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District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1 chiffre</a:t>
            </a:r>
            <a:endParaRPr lang="en-US" sz="1150" dirty="0"/>
          </a:p>
        </p:txBody>
      </p:sp>
      <p:sp>
        <p:nvSpPr>
          <p:cNvPr id="29" name="AGS Kreis"/>
          <p:cNvSpPr/>
          <p:nvPr/>
        </p:nvSpPr>
        <p:spPr>
          <a:xfrm>
            <a:off x="2377440" y="3218688"/>
            <a:ext cx="83210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Kreis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2 chiffres</a:t>
            </a:r>
            <a:endParaRPr lang="en-US" sz="1150" dirty="0"/>
          </a:p>
        </p:txBody>
      </p:sp>
      <p:sp>
        <p:nvSpPr>
          <p:cNvPr id="30" name="AGS Commune"/>
          <p:cNvSpPr/>
          <p:nvPr/>
        </p:nvSpPr>
        <p:spPr>
          <a:xfrm>
            <a:off x="3246120" y="3218688"/>
            <a:ext cx="87782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Commune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3 chiffres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8404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suivi du code du parent auquel il est rattaché. Les villes homonymes (ex. Neustadt) sont contrôlées pour éviter les confusions.</a:t>
            </a:r>
            <a:endParaRPr lang="en-US" sz="1150" dirty="0"/>
          </a:p>
        </p:txBody>
      </p:sp>
      <p:sp>
        <p:nvSpPr>
          <p:cNvPr id="32" name="image panel"/>
          <p:cNvSpPr/>
          <p:nvPr/>
        </p:nvSpPr>
        <p:spPr>
          <a:xfrm>
            <a:off x="4526280" y="2560320"/>
            <a:ext cx="416052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3" name="Construction de la hiérarchie territoriale allemande avec Power Query" descr="Construction de la hiérarchie territoriale allemande avec Power Qu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387" y="2651760"/>
            <a:ext cx="3206306" cy="1874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Magasin MD1 : analyser les locations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/>
        </p:spPr>
      </p:sp>
      <p:pic>
        <p:nvPicPr>
          <p:cNvPr id="6" name="Schéma en étoile du magasin MD1" descr="Schéma en étoile du magasin M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522" y="1298448"/>
            <a:ext cx="4307435" cy="3209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97880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SCHÉMA</a:t>
            </a:r>
            <a:endParaRPr lang="en-US" sz="1000" dirty="0"/>
          </a:p>
        </p:txBody>
      </p:sp>
      <p:sp>
        <p:nvSpPr>
          <p:cNvPr id="8" name="why 1 fait"/>
          <p:cNvSpPr/>
          <p:nvPr/>
        </p:nvSpPr>
        <p:spPr>
          <a:xfrm>
            <a:off x="5897880" y="1481328"/>
            <a:ext cx="278892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80760" y="1591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location</a:t>
            </a:r>
            <a:endParaRPr lang="en-US" sz="1200" dirty="0"/>
          </a:p>
        </p:txBody>
      </p:sp>
      <p:sp>
        <p:nvSpPr>
          <p:cNvPr id="11" name="why 3 axes d’analyse"/>
          <p:cNvSpPr/>
          <p:nvPr/>
        </p:nvSpPr>
        <p:spPr>
          <a:xfrm>
            <a:off x="5897880" y="2532888"/>
            <a:ext cx="278892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080760" y="2642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d’analyse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080760" y="30358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demandé en B1 et B2</a:t>
            </a:r>
            <a:endParaRPr lang="en-US" sz="1200" dirty="0"/>
          </a:p>
        </p:txBody>
      </p:sp>
      <p:sp>
        <p:nvSpPr>
          <p:cNvPr id="14" name="why Des hiérarchies"/>
          <p:cNvSpPr/>
          <p:nvPr/>
        </p:nvSpPr>
        <p:spPr>
          <a:xfrm>
            <a:off x="5897880" y="3584448"/>
            <a:ext cx="278892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08076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hiérarchies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080760" y="40873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descendre ou remonter dans le détail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Magasin MD1 : décomposition de la durée</a:t>
            </a:r>
            <a:endParaRPr lang="en-US" sz="2600" dirty="0"/>
          </a:p>
        </p:txBody>
      </p:sp>
      <p:pic>
        <p:nvPicPr>
          <p:cNvPr id="5" name="decomposition" descr="Une ligne de Louer (14 jours) devient 14 lignes dans Location_M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147" y="1188720"/>
            <a:ext cx="7037706" cy="2788920"/>
          </a:xfrm>
          <a:prstGeom prst="rect">
            <a:avLst/>
          </a:prstGeom>
        </p:spPr>
      </p:pic>
      <p:sp>
        <p:nvSpPr>
          <p:cNvPr id="6" name="a retenir"/>
          <p:cNvSpPr/>
          <p:nvPr/>
        </p:nvSpPr>
        <p:spPr>
          <a:xfrm>
            <a:off x="457200" y="4096512"/>
            <a:ext cx="8229600" cy="521208"/>
          </a:xfrm>
          <a:prstGeom prst="roundRect">
            <a:avLst>
              <a:gd name="adj" fmla="val 14035"/>
            </a:avLst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58368" y="4096512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location de 14 jours devient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lignes d’un jour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LOCATION_MD1 : chaque jour se range dans la bonne semaine et le bon mois.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MD1 – Temps : deux problèmes, deux solutions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pic>
        <p:nvPicPr>
          <p:cNvPr id="6" name="Dimension Temps_MD de MD1 avec H_SEM et H_MOIS" descr="Dimension Temps_MD de MD1 avec H_SEM et H_MO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6478"/>
            <a:ext cx="4261104" cy="20019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03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date, deux hiérarchies : </a:t>
            </a: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H_SEM (semaine, année ISO) et H_MOIS (mois, année).</a:t>
            </a:r>
            <a:endParaRPr lang="en-US" sz="1250" dirty="0"/>
          </a:p>
        </p:txBody>
      </p:sp>
      <p:sp>
        <p:nvSpPr>
          <p:cNvPr id="8" name="PROBLÈME 1"/>
          <p:cNvSpPr/>
          <p:nvPr/>
        </p:nvSpPr>
        <p:spPr>
          <a:xfrm>
            <a:off x="5166360" y="1188720"/>
            <a:ext cx="352044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349240" y="1316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1554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location s’étale sur plusieurs semaines et plusieurs mois.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19933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22311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jour par jour (slide précédente).</a:t>
            </a:r>
            <a:endParaRPr lang="en-US" sz="1200" dirty="0"/>
          </a:p>
        </p:txBody>
      </p:sp>
      <p:sp>
        <p:nvSpPr>
          <p:cNvPr id="13" name="PROBLÈME 2"/>
          <p:cNvSpPr/>
          <p:nvPr/>
        </p:nvSpPr>
        <p:spPr>
          <a:xfrm>
            <a:off x="5166360" y="288036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349240" y="30083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3246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semaine peut chevaucher deux mois : semaines et mois ne forment pas une seule hiérarchie.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3867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349240" y="410565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hiérarchies séparées, semaine ISO et mois, qui partagent la même date.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MD1 – Employé : géographie France et Allemagne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3657600" cy="342900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/>
        </p:spPr>
      </p:sp>
      <p:pic>
        <p:nvPicPr>
          <p:cNvPr id="6" name="Dimension Employe_MD de MD1" descr="Dimension Employe_MD de M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298448"/>
            <a:ext cx="2971800" cy="3209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1188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ORGANISATION</a:t>
            </a:r>
            <a:endParaRPr lang="en-US" sz="1000" dirty="0"/>
          </a:p>
        </p:txBody>
      </p:sp>
      <p:sp>
        <p:nvSpPr>
          <p:cNvPr id="8" name="chip Service et société"/>
          <p:cNvSpPr/>
          <p:nvPr/>
        </p:nvSpPr>
        <p:spPr>
          <a:xfrm>
            <a:off x="4343400" y="1481328"/>
            <a:ext cx="1417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Service et société</a:t>
            </a:r>
            <a:endParaRPr lang="en-US" sz="1150" dirty="0"/>
          </a:p>
        </p:txBody>
      </p:sp>
      <p:sp>
        <p:nvSpPr>
          <p:cNvPr id="9" name="chip Catégorie d’employé"/>
          <p:cNvSpPr/>
          <p:nvPr/>
        </p:nvSpPr>
        <p:spPr>
          <a:xfrm>
            <a:off x="5852160" y="1481328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Catégorie d’employé</a:t>
            </a:r>
            <a:endParaRPr lang="en-US" sz="1150" dirty="0"/>
          </a:p>
        </p:txBody>
      </p:sp>
      <p:sp>
        <p:nvSpPr>
          <p:cNvPr id="10" name="chip Type de société"/>
          <p:cNvSpPr/>
          <p:nvPr/>
        </p:nvSpPr>
        <p:spPr>
          <a:xfrm>
            <a:off x="7406640" y="1481328"/>
            <a:ext cx="12801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Type de société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GÉOGRAPHIE</a:t>
            </a:r>
            <a:endParaRPr lang="en-US" sz="1000" dirty="0"/>
          </a:p>
        </p:txBody>
      </p:sp>
      <p:sp>
        <p:nvSpPr>
          <p:cNvPr id="12" name="geo France"/>
          <p:cNvSpPr/>
          <p:nvPr/>
        </p:nvSpPr>
        <p:spPr>
          <a:xfrm>
            <a:off x="4343400" y="2395728"/>
            <a:ext cx="4343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26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300" dirty="0"/>
          </a:p>
        </p:txBody>
      </p:sp>
      <p:sp>
        <p:nvSpPr>
          <p:cNvPr id="14" name="niveau Ville"/>
          <p:cNvSpPr/>
          <p:nvPr/>
        </p:nvSpPr>
        <p:spPr>
          <a:xfrm>
            <a:off x="4526280" y="2834640"/>
            <a:ext cx="662940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Ville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189220" y="2834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niveau Département"/>
          <p:cNvSpPr/>
          <p:nvPr/>
        </p:nvSpPr>
        <p:spPr>
          <a:xfrm>
            <a:off x="5463540" y="2834640"/>
            <a:ext cx="1129284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Département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592824" y="2834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niveau Région"/>
          <p:cNvSpPr/>
          <p:nvPr/>
        </p:nvSpPr>
        <p:spPr>
          <a:xfrm>
            <a:off x="6867144" y="2834640"/>
            <a:ext cx="740664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Région</a:t>
            </a:r>
            <a:endParaRPr lang="en-US" sz="1100" dirty="0"/>
          </a:p>
        </p:txBody>
      </p:sp>
      <p:sp>
        <p:nvSpPr>
          <p:cNvPr id="19" name="geo Allemagne"/>
          <p:cNvSpPr/>
          <p:nvPr/>
        </p:nvSpPr>
        <p:spPr>
          <a:xfrm>
            <a:off x="4343400" y="3383280"/>
            <a:ext cx="4343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262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</a:t>
            </a:r>
            <a:endParaRPr lang="en-US" sz="1300" dirty="0"/>
          </a:p>
        </p:txBody>
      </p:sp>
      <p:sp>
        <p:nvSpPr>
          <p:cNvPr id="21" name="niveau Commune"/>
          <p:cNvSpPr/>
          <p:nvPr/>
        </p:nvSpPr>
        <p:spPr>
          <a:xfrm>
            <a:off x="4526280" y="3822192"/>
            <a:ext cx="818388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Commune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344668" y="38221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niveau Kreis"/>
          <p:cNvSpPr/>
          <p:nvPr/>
        </p:nvSpPr>
        <p:spPr>
          <a:xfrm>
            <a:off x="5618988" y="3822192"/>
            <a:ext cx="662940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Kreis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281928" y="38221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niveau District ou Land"/>
          <p:cNvSpPr/>
          <p:nvPr/>
        </p:nvSpPr>
        <p:spPr>
          <a:xfrm>
            <a:off x="6556248" y="3822192"/>
            <a:ext cx="1517904" cy="310896"/>
          </a:xfrm>
          <a:prstGeom prst="roundRect">
            <a:avLst>
              <a:gd name="adj" fmla="val 47059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District ou Land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343400" y="4370832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Kreis et de Land distingués (ville-État ou non).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Les agrégats : des réponses instantanées</a:t>
            </a:r>
            <a:endParaRPr lang="en-US" sz="2600" dirty="0"/>
          </a:p>
        </p:txBody>
      </p:sp>
      <p:sp>
        <p:nvSpPr>
          <p:cNvPr id="5" name="lane Analyses"/>
          <p:cNvSpPr/>
          <p:nvPr/>
        </p:nvSpPr>
        <p:spPr>
          <a:xfrm>
            <a:off x="457200" y="1115568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11556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décideur</a:t>
            </a:r>
            <a:endParaRPr lang="en-US" sz="1200" dirty="0"/>
          </a:p>
        </p:txBody>
      </p:sp>
      <p:sp>
        <p:nvSpPr>
          <p:cNvPr id="7" name="lane Agrégats"/>
          <p:cNvSpPr/>
          <p:nvPr/>
        </p:nvSpPr>
        <p:spPr>
          <a:xfrm>
            <a:off x="457200" y="25146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" y="2514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pré-calculés</a:t>
            </a:r>
            <a:endParaRPr lang="en-US" sz="1200" dirty="0"/>
          </a:p>
        </p:txBody>
      </p:sp>
      <p:sp>
        <p:nvSpPr>
          <p:cNvPr id="9" name="lane Données détaillées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" y="361188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détaillées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fait</a:t>
            </a:r>
            <a:endParaRPr lang="en-US" sz="1200" dirty="0"/>
          </a:p>
        </p:txBody>
      </p:sp>
      <p:sp>
        <p:nvSpPr>
          <p:cNvPr id="11" name="analyse A2"/>
          <p:cNvSpPr/>
          <p:nvPr/>
        </p:nvSpPr>
        <p:spPr>
          <a:xfrm>
            <a:off x="2011680" y="1188720"/>
            <a:ext cx="1874520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ill A2"/>
          <p:cNvSpPr/>
          <p:nvPr/>
        </p:nvSpPr>
        <p:spPr>
          <a:xfrm>
            <a:off x="2121408" y="1280160"/>
            <a:ext cx="420624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121408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SUM(Montant payé)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SUM(Durée)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semaine et employé</a:t>
            </a:r>
            <a:endParaRPr lang="en-US" sz="1200" dirty="0"/>
          </a:p>
        </p:txBody>
      </p:sp>
      <p:sp>
        <p:nvSpPr>
          <p:cNvPr id="14" name="agg 1"/>
          <p:cNvSpPr/>
          <p:nvPr/>
        </p:nvSpPr>
        <p:spPr>
          <a:xfrm>
            <a:off x="2011680" y="2606040"/>
            <a:ext cx="187452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Agg1 · Employé, Semaine</a:t>
            </a:r>
            <a:endParaRPr lang="en-US" sz="1150" dirty="0"/>
          </a:p>
        </p:txBody>
      </p:sp>
      <p:sp>
        <p:nvSpPr>
          <p:cNvPr id="15" name="arrow agg to analyse"/>
          <p:cNvSpPr/>
          <p:nvPr/>
        </p:nvSpPr>
        <p:spPr>
          <a:xfrm>
            <a:off x="2948940" y="2157984"/>
            <a:ext cx="0" cy="42976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6" name="analyse A1"/>
          <p:cNvSpPr/>
          <p:nvPr/>
        </p:nvSpPr>
        <p:spPr>
          <a:xfrm>
            <a:off x="4251960" y="1188720"/>
            <a:ext cx="1874520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pill A1"/>
          <p:cNvSpPr/>
          <p:nvPr/>
        </p:nvSpPr>
        <p:spPr>
          <a:xfrm>
            <a:off x="4361688" y="1280160"/>
            <a:ext cx="420624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361688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SUM(Montant payé)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et société</a:t>
            </a:r>
            <a:endParaRPr lang="en-US" sz="1200" dirty="0"/>
          </a:p>
        </p:txBody>
      </p:sp>
      <p:sp>
        <p:nvSpPr>
          <p:cNvPr id="19" name="agg 2"/>
          <p:cNvSpPr/>
          <p:nvPr/>
        </p:nvSpPr>
        <p:spPr>
          <a:xfrm>
            <a:off x="4251960" y="2606040"/>
            <a:ext cx="187452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Agg2 · Société, Mois</a:t>
            </a:r>
            <a:endParaRPr lang="en-US" sz="1150" dirty="0"/>
          </a:p>
        </p:txBody>
      </p:sp>
      <p:sp>
        <p:nvSpPr>
          <p:cNvPr id="20" name="arrow agg to analyse"/>
          <p:cNvSpPr/>
          <p:nvPr/>
        </p:nvSpPr>
        <p:spPr>
          <a:xfrm>
            <a:off x="5189220" y="2157984"/>
            <a:ext cx="0" cy="42976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1" name="analyse A3"/>
          <p:cNvSpPr/>
          <p:nvPr/>
        </p:nvSpPr>
        <p:spPr>
          <a:xfrm>
            <a:off x="6675120" y="1188720"/>
            <a:ext cx="1874520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pill A3"/>
          <p:cNvSpPr/>
          <p:nvPr/>
        </p:nvSpPr>
        <p:spPr>
          <a:xfrm>
            <a:off x="6784848" y="1280160"/>
            <a:ext cx="420624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A3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SUM(Durée)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et région</a:t>
            </a:r>
            <a:endParaRPr lang="en-US" sz="1200" dirty="0"/>
          </a:p>
        </p:txBody>
      </p:sp>
      <p:sp>
        <p:nvSpPr>
          <p:cNvPr id="24" name="agg 3"/>
          <p:cNvSpPr/>
          <p:nvPr/>
        </p:nvSpPr>
        <p:spPr>
          <a:xfrm>
            <a:off x="6675120" y="2606040"/>
            <a:ext cx="187452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Agg3 · Région, Mois</a:t>
            </a:r>
            <a:endParaRPr lang="en-US" sz="1150" dirty="0"/>
          </a:p>
        </p:txBody>
      </p:sp>
      <p:sp>
        <p:nvSpPr>
          <p:cNvPr id="25" name="arrow agg to analyse"/>
          <p:cNvSpPr/>
          <p:nvPr/>
        </p:nvSpPr>
        <p:spPr>
          <a:xfrm>
            <a:off x="7612380" y="2157984"/>
            <a:ext cx="0" cy="42976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6" name="fait location"/>
          <p:cNvSpPr/>
          <p:nvPr/>
        </p:nvSpPr>
        <p:spPr>
          <a:xfrm>
            <a:off x="2011680" y="3712464"/>
            <a:ext cx="4114800" cy="694944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LOCATION_MD1</a:t>
            </a:r>
            <a:r>
              <a:rPr lang="en-US" sz="1250" dirty="0">
                <a:solidFill>
                  <a:schemeClr val="tx1"/>
                </a:solidFill>
              </a:rPr>
              <a:t>  ·  grain : employé, société, jour</a:t>
            </a:r>
            <a:endParaRPr lang="en-US" sz="1250" dirty="0"/>
          </a:p>
        </p:txBody>
      </p:sp>
      <p:sp>
        <p:nvSpPr>
          <p:cNvPr id="27" name="arrow fait to agg"/>
          <p:cNvSpPr/>
          <p:nvPr/>
        </p:nvSpPr>
        <p:spPr>
          <a:xfrm>
            <a:off x="2948940" y="3172968"/>
            <a:ext cx="0" cy="52120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8" name="arrow fait to agg"/>
          <p:cNvSpPr/>
          <p:nvPr/>
        </p:nvSpPr>
        <p:spPr>
          <a:xfrm>
            <a:off x="5189220" y="3172968"/>
            <a:ext cx="0" cy="52120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9" name="arrow agg2 to agg3"/>
          <p:cNvSpPr/>
          <p:nvPr/>
        </p:nvSpPr>
        <p:spPr>
          <a:xfrm>
            <a:off x="6144768" y="2880360"/>
            <a:ext cx="51206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6355080" y="371246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Agg1 et Agg2 sont calculés depuis le fait, Agg3 depuis Agg2.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Magasin MD2 : analyser les ventes</a:t>
            </a:r>
            <a:endParaRPr lang="en-US" sz="2600" dirty="0"/>
          </a:p>
        </p:txBody>
      </p:sp>
      <p:sp>
        <p:nvSpPr>
          <p:cNvPr id="5" name="link Produit_MD"/>
          <p:cNvSpPr/>
          <p:nvPr/>
        </p:nvSpPr>
        <p:spPr>
          <a:xfrm>
            <a:off x="1371600" y="1645920"/>
            <a:ext cx="1737360" cy="1257300"/>
          </a:xfrm>
          <a:prstGeom prst="line">
            <a:avLst/>
          </a:prstGeom>
          <a:noFill/>
          <a:ln w="15875">
            <a:solidFill>
              <a:srgbClr val="8A97A6"/>
            </a:solidFill>
            <a:prstDash val="solid"/>
          </a:ln>
        </p:spPr>
      </p:sp>
      <p:sp>
        <p:nvSpPr>
          <p:cNvPr id="6" name="link Temps_MD"/>
          <p:cNvSpPr/>
          <p:nvPr/>
        </p:nvSpPr>
        <p:spPr>
          <a:xfrm flipH="1">
            <a:off x="3108960" y="1645920"/>
            <a:ext cx="1737360" cy="1257300"/>
          </a:xfrm>
          <a:prstGeom prst="line">
            <a:avLst/>
          </a:prstGeom>
          <a:noFill/>
          <a:ln w="15875">
            <a:solidFill>
              <a:srgbClr val="8A97A6"/>
            </a:solidFill>
            <a:prstDash val="solid"/>
          </a:ln>
        </p:spPr>
      </p:sp>
      <p:sp>
        <p:nvSpPr>
          <p:cNvPr id="7" name="link Metier_MD"/>
          <p:cNvSpPr/>
          <p:nvPr/>
        </p:nvSpPr>
        <p:spPr>
          <a:xfrm flipH="1">
            <a:off x="1371600" y="2903220"/>
            <a:ext cx="1737360" cy="1257300"/>
          </a:xfrm>
          <a:prstGeom prst="line">
            <a:avLst/>
          </a:prstGeom>
          <a:noFill/>
          <a:ln w="15875">
            <a:solidFill>
              <a:srgbClr val="8A97A6"/>
            </a:solidFill>
            <a:prstDash val="solid"/>
          </a:ln>
        </p:spPr>
      </p:sp>
      <p:sp>
        <p:nvSpPr>
          <p:cNvPr id="8" name="link Employe_MD"/>
          <p:cNvSpPr/>
          <p:nvPr/>
        </p:nvSpPr>
        <p:spPr>
          <a:xfrm>
            <a:off x="3108960" y="2903220"/>
            <a:ext cx="1737360" cy="1257300"/>
          </a:xfrm>
          <a:prstGeom prst="line">
            <a:avLst/>
          </a:prstGeom>
          <a:noFill/>
          <a:ln w="15875">
            <a:solidFill>
              <a:srgbClr val="8A97A6"/>
            </a:solidFill>
            <a:prstDash val="solid"/>
          </a:ln>
        </p:spPr>
      </p:sp>
      <p:sp>
        <p:nvSpPr>
          <p:cNvPr id="9" name="dim Produit_MD"/>
          <p:cNvSpPr/>
          <p:nvPr/>
        </p:nvSpPr>
        <p:spPr>
          <a:xfrm>
            <a:off x="457200" y="123444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2344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Produit_MD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gamme, secteur, génération, fabricant</a:t>
            </a:r>
            <a:endParaRPr lang="en-US" sz="1200" dirty="0"/>
          </a:p>
        </p:txBody>
      </p:sp>
      <p:sp>
        <p:nvSpPr>
          <p:cNvPr id="11" name="dim Temps_MD"/>
          <p:cNvSpPr/>
          <p:nvPr/>
        </p:nvSpPr>
        <p:spPr>
          <a:xfrm>
            <a:off x="3931920" y="123444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05072" y="12344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Temps_MD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jour, mois, année</a:t>
            </a:r>
            <a:endParaRPr lang="en-US" sz="1200" dirty="0"/>
          </a:p>
        </p:txBody>
      </p:sp>
      <p:sp>
        <p:nvSpPr>
          <p:cNvPr id="13" name="dim Metier_MD"/>
          <p:cNvSpPr/>
          <p:nvPr/>
        </p:nvSpPr>
        <p:spPr>
          <a:xfrm>
            <a:off x="457200" y="374904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" y="37490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Metier_MD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ROME (4 niveaux) + « NR » non renseigné</a:t>
            </a:r>
            <a:endParaRPr lang="en-US" sz="1200" dirty="0"/>
          </a:p>
        </p:txBody>
      </p:sp>
      <p:sp>
        <p:nvSpPr>
          <p:cNvPr id="15" name="dim Employe_MD"/>
          <p:cNvSpPr/>
          <p:nvPr/>
        </p:nvSpPr>
        <p:spPr>
          <a:xfrm>
            <a:off x="3931920" y="374904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05072" y="37490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Employe_MD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âge, trajet, société, géographie</a:t>
            </a:r>
            <a:endParaRPr lang="en-US" sz="1200" dirty="0"/>
          </a:p>
        </p:txBody>
      </p:sp>
      <p:sp>
        <p:nvSpPr>
          <p:cNvPr id="17" name="fait achat"/>
          <p:cNvSpPr/>
          <p:nvPr/>
        </p:nvSpPr>
        <p:spPr>
          <a:xfrm>
            <a:off x="1783080" y="2286000"/>
            <a:ext cx="2651760" cy="123444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Achat_MD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1 ligne = un employé × un produit × un métier × un jour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Quantité · Montant payé TTC · Bénéfice HT</a:t>
            </a:r>
            <a:endParaRPr lang="en-US" sz="1500" dirty="0"/>
          </a:p>
        </p:txBody>
      </p:sp>
      <p:sp>
        <p:nvSpPr>
          <p:cNvPr id="18" name="nos choix"/>
          <p:cNvSpPr/>
          <p:nvPr/>
        </p:nvSpPr>
        <p:spPr>
          <a:xfrm>
            <a:off x="603504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17920" y="1371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CHOIX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69164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chaque responsable des ventes ne voit que son pays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nombre d’articles achetés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payé TTC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dépense réelle de l’employé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HT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prix public − prix réduit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d’agrégats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 2 200 achats, aucune analyse quotidienne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MD2 – Produit, Temps, Métier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pic>
        <p:nvPicPr>
          <p:cNvPr id="6" name="Dimension Produit_MD" descr="Dimension Produit_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84" y="1298448"/>
            <a:ext cx="3092952" cy="2295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81304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hiérarchies :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gamme → secteur et génération → fabricant. Classe d’autonomie </a:t>
            </a: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calculée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(&lt; 40 km, 40 à 80, &gt; 80).</a:t>
            </a:r>
            <a:endParaRPr lang="en-US" sz="1100" dirty="0"/>
          </a:p>
        </p:txBody>
      </p:sp>
      <p:sp>
        <p:nvSpPr>
          <p:cNvPr id="8" name="image panel"/>
          <p:cNvSpPr/>
          <p:nvPr/>
        </p:nvSpPr>
        <p:spPr>
          <a:xfrm>
            <a:off x="457200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pic>
        <p:nvPicPr>
          <p:cNvPr id="9" name="Dimension Temps_MD" descr="Dimension Temps_M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824" y="1298448"/>
            <a:ext cx="1548311" cy="22951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0" y="3813048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→ mois → année.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de semaine : les responsables raisonnent </a:t>
            </a: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mois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image panel"/>
          <p:cNvSpPr/>
          <p:nvPr/>
        </p:nvSpPr>
        <p:spPr>
          <a:xfrm>
            <a:off x="6720840" y="1188720"/>
            <a:ext cx="1965960" cy="251460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pic>
        <p:nvPicPr>
          <p:cNvPr id="12" name="Dimension Metier_MD" descr="Dimension Metier_M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502" y="1298448"/>
            <a:ext cx="1640635" cy="2295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20840" y="3813048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du ROME.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 NR » pour les achats sans métier connu (salariés allemands, sans fiche RH).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03 · MAGASINS DE DONNÉES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MD2 – Employé : qui achète</a:t>
            </a:r>
            <a:endParaRPr lang="en-US" sz="2600" dirty="0"/>
          </a:p>
        </p:txBody>
      </p:sp>
      <p:sp>
        <p:nvSpPr>
          <p:cNvPr id="5" name="image panel"/>
          <p:cNvSpPr/>
          <p:nvPr/>
        </p:nvSpPr>
        <p:spPr>
          <a:xfrm>
            <a:off x="457200" y="118872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/>
        </p:spPr>
      </p:sp>
      <p:pic>
        <p:nvPicPr>
          <p:cNvPr id="6" name="Dimension Employe_MD de MD2" descr="Dimension Employe_MD de M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77" y="1298448"/>
            <a:ext cx="3544367" cy="3209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17720" y="1188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DÉCRIT L’ACHETEUR</a:t>
            </a:r>
            <a:endParaRPr lang="en-US" sz="1000" dirty="0"/>
          </a:p>
        </p:txBody>
      </p:sp>
      <p:sp>
        <p:nvSpPr>
          <p:cNvPr id="8" name="icon circle FaUserTie"/>
          <p:cNvSpPr/>
          <p:nvPr/>
        </p:nvSpPr>
        <p:spPr>
          <a:xfrm>
            <a:off x="4617720" y="1572768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9" name="icon FaUserTi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6420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120640" y="14813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profil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tranche d’âge et catégorie de trajet domicile-travail</a:t>
            </a:r>
            <a:endParaRPr lang="en-US" sz="1150" dirty="0"/>
          </a:p>
        </p:txBody>
      </p:sp>
      <p:sp>
        <p:nvSpPr>
          <p:cNvPr id="11" name="icon circle FaIdCard"/>
          <p:cNvSpPr/>
          <p:nvPr/>
        </p:nvSpPr>
        <p:spPr>
          <a:xfrm>
            <a:off x="4617720" y="2194560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icon FaIdCar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8600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20640" y="2103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rattachement actuel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 et société d’aujourd’hui</a:t>
            </a:r>
            <a:endParaRPr lang="en-US" sz="1150" dirty="0"/>
          </a:p>
        </p:txBody>
      </p:sp>
      <p:sp>
        <p:nvSpPr>
          <p:cNvPr id="14" name="icon circle FaBuilding"/>
          <p:cNvSpPr/>
          <p:nvPr/>
        </p:nvSpPr>
        <p:spPr>
          <a:xfrm>
            <a:off x="4617720" y="2816352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5" name="icon FaBuild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0779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120640" y="27249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société, décrite en entier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type, forme juridique sur 3 niveaux, domaine d’activité (code NAF, France)</a:t>
            </a:r>
            <a:endParaRPr lang="en-US" sz="1150" dirty="0"/>
          </a:p>
        </p:txBody>
      </p:sp>
      <p:sp>
        <p:nvSpPr>
          <p:cNvPr id="17" name="icon circle FaMapMarkedAlt"/>
          <p:cNvSpPr/>
          <p:nvPr/>
        </p:nvSpPr>
        <p:spPr>
          <a:xfrm>
            <a:off x="4617720" y="3438144"/>
            <a:ext cx="365760" cy="3657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8" name="icon FaMapMarkedA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529584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20640" y="33467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géographie :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France ou Allemagne, avec les hiérarchies vues pour MD1</a:t>
            </a:r>
            <a:endParaRPr lang="en-US" sz="1150" dirty="0"/>
          </a:p>
        </p:txBody>
      </p:sp>
      <p:sp>
        <p:nvSpPr>
          <p:cNvPr id="20" name="objectif"/>
          <p:cNvSpPr/>
          <p:nvPr/>
        </p:nvSpPr>
        <p:spPr>
          <a:xfrm>
            <a:off x="4617720" y="4023360"/>
            <a:ext cx="406908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480060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quels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d’employés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quels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d’entreprises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achètent le plus.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04 · RESTITUTION POWER BI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Présentation des données dans Power BI</a:t>
            </a:r>
            <a:endParaRPr lang="en-US" sz="2600" dirty="0"/>
          </a:p>
        </p:txBody>
      </p:sp>
      <p:sp>
        <p:nvSpPr>
          <p:cNvPr id="5" name="persona Responsable des locations"/>
          <p:cNvSpPr/>
          <p:nvPr/>
        </p:nvSpPr>
        <p:spPr>
          <a:xfrm>
            <a:off x="457200" y="1188720"/>
            <a:ext cx="1920240" cy="2157984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6" name="icon circle FaUserTie"/>
          <p:cNvSpPr/>
          <p:nvPr/>
        </p:nvSpPr>
        <p:spPr>
          <a:xfrm>
            <a:off x="982980" y="1490472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1707642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24963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des locations</a:t>
            </a:r>
            <a:endParaRPr lang="en-US" sz="1300" dirty="0"/>
          </a:p>
        </p:txBody>
      </p:sp>
      <p:sp>
        <p:nvSpPr>
          <p:cNvPr id="9" name="rapport B1.1"/>
          <p:cNvSpPr/>
          <p:nvPr/>
        </p:nvSpPr>
        <p:spPr>
          <a:xfrm>
            <a:off x="2560320" y="1188720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number 1"/>
          <p:cNvSpPr/>
          <p:nvPr/>
        </p:nvSpPr>
        <p:spPr>
          <a:xfrm>
            <a:off x="2706624" y="13533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118872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B1.1 : 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des locations réellement payés, par mois et par société</a:t>
            </a:r>
            <a:endParaRPr lang="en-US" sz="1250" dirty="0"/>
          </a:p>
        </p:txBody>
      </p:sp>
      <p:sp>
        <p:nvSpPr>
          <p:cNvPr id="12" name="rapport B1.2"/>
          <p:cNvSpPr/>
          <p:nvPr/>
        </p:nvSpPr>
        <p:spPr>
          <a:xfrm>
            <a:off x="2560320" y="1938528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3" name="number 2"/>
          <p:cNvSpPr/>
          <p:nvPr/>
        </p:nvSpPr>
        <p:spPr>
          <a:xfrm>
            <a:off x="2706624" y="2103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193852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B1.2 : 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réellement payés et durées des locations, par semaine et par salarié</a:t>
            </a:r>
            <a:endParaRPr lang="en-US" sz="1250" dirty="0"/>
          </a:p>
        </p:txBody>
      </p:sp>
      <p:sp>
        <p:nvSpPr>
          <p:cNvPr id="15" name="rapport B1.3"/>
          <p:cNvSpPr/>
          <p:nvPr/>
        </p:nvSpPr>
        <p:spPr>
          <a:xfrm>
            <a:off x="2560320" y="2688336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umber 3"/>
          <p:cNvSpPr/>
          <p:nvPr/>
        </p:nvSpPr>
        <p:spPr>
          <a:xfrm>
            <a:off x="2706624" y="28529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2688336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B1.3 : </a:t>
            </a: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des locations, par mois et par région (France) ou Land (Allemagne)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04 · RESTITUTION POWER BI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30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Présentation des données dans Power BI</a:t>
            </a:r>
            <a:endParaRPr lang="en-US" sz="2600" dirty="0"/>
          </a:p>
        </p:txBody>
      </p:sp>
      <p:sp>
        <p:nvSpPr>
          <p:cNvPr id="5" name="persona Responsables des ventes"/>
          <p:cNvSpPr/>
          <p:nvPr/>
        </p:nvSpPr>
        <p:spPr>
          <a:xfrm>
            <a:off x="457200" y="1188720"/>
            <a:ext cx="1920240" cy="2907792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6" name="icon circle FaUsers"/>
          <p:cNvSpPr/>
          <p:nvPr/>
        </p:nvSpPr>
        <p:spPr>
          <a:xfrm>
            <a:off x="982980" y="1865376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082546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287121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des ventes</a:t>
            </a:r>
            <a:endParaRPr lang="en-US" sz="1300" dirty="0"/>
          </a:p>
        </p:txBody>
      </p:sp>
      <p:sp>
        <p:nvSpPr>
          <p:cNvPr id="9" name="rapport B2.1"/>
          <p:cNvSpPr/>
          <p:nvPr/>
        </p:nvSpPr>
        <p:spPr>
          <a:xfrm>
            <a:off x="2560320" y="1188720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number 1"/>
          <p:cNvSpPr/>
          <p:nvPr/>
        </p:nvSpPr>
        <p:spPr>
          <a:xfrm>
            <a:off x="2706624" y="13533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118872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B2.1 : 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achetées, montants réellement payés et bénéfices par secteur et gamme de produits, par région (France) ou Land (Allemagne), avec descente au département ou Kreis puis à la commune ou Gemeinde, par année</a:t>
            </a:r>
            <a:endParaRPr lang="en-US" sz="1150" dirty="0"/>
          </a:p>
        </p:txBody>
      </p:sp>
      <p:sp>
        <p:nvSpPr>
          <p:cNvPr id="12" name="rapport B2.2"/>
          <p:cNvSpPr/>
          <p:nvPr/>
        </p:nvSpPr>
        <p:spPr>
          <a:xfrm>
            <a:off x="2560320" y="1938528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3" name="number 2"/>
          <p:cNvSpPr/>
          <p:nvPr/>
        </p:nvSpPr>
        <p:spPr>
          <a:xfrm>
            <a:off x="2706624" y="2103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193852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B2.2 : 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achetées, montants réellement payés et bénéfices par mois, comparés au même mois de l’année précédente (valeur N, valeur N-1, variation en %), et évolution mois par mois</a:t>
            </a:r>
            <a:endParaRPr lang="en-US" sz="1150" dirty="0"/>
          </a:p>
        </p:txBody>
      </p:sp>
      <p:sp>
        <p:nvSpPr>
          <p:cNvPr id="15" name="rapport B2.3"/>
          <p:cNvSpPr/>
          <p:nvPr/>
        </p:nvSpPr>
        <p:spPr>
          <a:xfrm>
            <a:off x="2560320" y="2688336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umber 3"/>
          <p:cNvSpPr/>
          <p:nvPr/>
        </p:nvSpPr>
        <p:spPr>
          <a:xfrm>
            <a:off x="2706624" y="28529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2688336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B2.3 : 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achetées, montants réellement payés et bénéfices selon le profil des employés : tranche d’âge, classe de trajet domicile-travail et métier (France), par année</a:t>
            </a:r>
            <a:endParaRPr lang="en-US" sz="1150" dirty="0"/>
          </a:p>
        </p:txBody>
      </p:sp>
      <p:sp>
        <p:nvSpPr>
          <p:cNvPr id="18" name="rapport B2.4"/>
          <p:cNvSpPr/>
          <p:nvPr/>
        </p:nvSpPr>
        <p:spPr>
          <a:xfrm>
            <a:off x="2560320" y="3438144"/>
            <a:ext cx="61264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2706624" y="36027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200400" y="3438144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B2.4 : </a:t>
            </a: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achetées, montants réellement payés et bénéfices selon le profil des sociétés : type de société, catégorie juridique et domaine d’activité (France), avec le détail par société, par année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77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04 · RESTITUTION POWER BI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Démonstration dans Power BI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rapports des responsables des locations et des ventes, en direct</a:t>
            </a:r>
            <a:endParaRPr lang="en-US" sz="1600" dirty="0"/>
          </a:p>
        </p:txBody>
      </p:sp>
      <p:sp>
        <p:nvSpPr>
          <p:cNvPr id="5" name="icon circle FaChartBar"/>
          <p:cNvSpPr/>
          <p:nvPr/>
        </p:nvSpPr>
        <p:spPr>
          <a:xfrm>
            <a:off x="6720840" y="1097280"/>
            <a:ext cx="1828800" cy="1828800"/>
          </a:xfrm>
          <a:prstGeom prst="ellipse">
            <a:avLst/>
          </a:prstGeom>
          <a:solidFill>
            <a:srgbClr val="2B4677"/>
          </a:solidFill>
          <a:ln/>
        </p:spPr>
      </p:sp>
      <p:pic>
        <p:nvPicPr>
          <p:cNvPr id="6" name="icon FaChartB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544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777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NABHIS CONSULTING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Merci de votre attention</a:t>
            </a:r>
            <a:endParaRPr lang="en-US" sz="2800" dirty="0"/>
          </a:p>
        </p:txBody>
      </p:sp>
      <p:sp>
        <p:nvSpPr>
          <p:cNvPr id="5" name="icon circle FaComments"/>
          <p:cNvSpPr/>
          <p:nvPr/>
        </p:nvSpPr>
        <p:spPr>
          <a:xfrm>
            <a:off x="548640" y="1874520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 FaCommen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002536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8105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à votre disposition pour y répondre.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Akakpo Alexandre · El Cheriaa Nader · Jahid Hicham · Ndala Brusny · Carrère Sami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MIAGE IDA – Université Toulouse Capitole</a:t>
            </a:r>
            <a:endParaRPr lang="en-US" sz="1100" dirty="0"/>
          </a:p>
        </p:txBody>
      </p:sp>
      <p:sp>
        <p:nvSpPr>
          <p:cNvPr id="9" name="image panel"/>
          <p:cNvSpPr/>
          <p:nvPr/>
        </p:nvSpPr>
        <p:spPr>
          <a:xfrm>
            <a:off x="6583680" y="1097280"/>
            <a:ext cx="21031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/>
        </p:spPr>
      </p:sp>
      <p:pic>
        <p:nvPicPr>
          <p:cNvPr id="10" name="Logo NABHIS Consulting" descr="Logo NABHIS Consul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325" y="1261872"/>
            <a:ext cx="1745831" cy="1773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ABHIS MobiPass">
  <a:themeElements>
    <a:clrScheme name="NABHIS MobiPass">
      <a:dk1>
        <a:srgbClr val="1B2430"/>
      </a:dk1>
      <a:lt1>
        <a:srgbClr val="FFFFFF"/>
      </a:lt1>
      <a:dk2>
        <a:srgbClr val="1F3864"/>
      </a:dk2>
      <a:lt2>
        <a:srgbClr val="F3F6FA"/>
      </a:lt2>
      <a:accent1>
        <a:srgbClr val="1F3864"/>
      </a:accent1>
      <a:accent2>
        <a:srgbClr val="2E75B6"/>
      </a:accent2>
      <a:accent3>
        <a:srgbClr val="C8601E"/>
      </a:accent3>
      <a:accent4>
        <a:srgbClr val="FCEFE4"/>
      </a:accent4>
      <a:accent5>
        <a:srgbClr val="5B6B80"/>
      </a:accent5>
      <a:accent6>
        <a:srgbClr val="D5DDE8"/>
      </a:accent6>
      <a:hlink>
        <a:srgbClr val="2E75B6"/>
      </a:hlink>
      <a:folHlink>
        <a:srgbClr val="5B6B80"/>
      </a:folHlink>
    </a:clrScheme>
    <a:fontScheme name="NABHIS MobiPa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MobiPass – Soutenance partie 1</dc:title>
  <dc:subject>PptxGenJS Presentation</dc:subject>
  <dc:creator>NABHIS Consulting</dc:creator>
  <cp:lastModifiedBy>NABHIS Consulting</cp:lastModifiedBy>
  <cp:revision>1</cp:revision>
  <dcterms:created xsi:type="dcterms:W3CDTF">2026-10-30T11:54:13Z</dcterms:created>
  <dcterms:modified xsi:type="dcterms:W3CDTF">2026-10-30T11:54:13Z</dcterms:modified>
</cp:coreProperties>
</file>